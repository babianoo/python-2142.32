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0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439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4D3CC-E4D1-EB3A-4E1D-1A774255D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CC6C07-7DEA-DD96-F135-1B6722CFC7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5FE143-FA38-DF73-AC68-DE26998BAE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3D32D-8052-CA64-528C-BCD66FE28E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6270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04704" y="690372"/>
            <a:ext cx="1779543" cy="1819656"/>
          </a:xfrm>
          <a:prstGeom prst="roundRect">
            <a:avLst>
              <a:gd name="adj" fmla="val 5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872" y="891540"/>
            <a:ext cx="1377207" cy="1417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5146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9FC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 · SCHOOL OF TECHNOLOGY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8803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Programming II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794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2 · Numbers, Floats &amp; Functions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4348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FC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representation · Newton-Raphson · functions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5394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FC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Lecturer: 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57607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miavich@cu.edu.ge   ·   Scientific Cyber Security Association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452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6693" y="2702052"/>
            <a:ext cx="1424135" cy="1453896"/>
          </a:xfrm>
          <a:prstGeom prst="roundRect">
            <a:avLst>
              <a:gd name="adj" fmla="val 6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61" y="2903220"/>
            <a:ext cx="1021799" cy="1051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743200" y="25603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kern="0" spc="300" dirty="0">
                <a:solidFill>
                  <a:srgbClr val="9FC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2743200" y="292608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last time: bisection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761488" y="3931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root by halving the search space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2 — Numbers &amp; Functions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square root by bisection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(or trace) the Python program described by the title above.</a:t>
            </a:r>
            <a:endParaRPr lang="en-US" sz="16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worked solution is on the next slide — try it yourself first.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2 — Numbers &amp; Functions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— square root by bisection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25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epsilon = 0.01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numGuesses = 0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 = 1.0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= x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 = (high + low)/2.0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abs(ans**2 - x) &gt;= epsilon: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numGuesses += 1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ans**2 &lt; x: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low = ans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high = ans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ans = (high + low)/2.0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print('numGuesses = ' + str(numGuesses))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print(str(ans) + ' is close to square root of ' + str(x))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2 — Numbers &amp; Functions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Dealing with float's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108173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Floats approximate real numbers, but it is useful to understand how.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number:</a:t>
            </a:r>
            <a:endParaRPr lang="en-US" sz="1600" dirty="0"/>
          </a:p>
          <a:p>
            <a:pPr marL="457200" lvl="1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 = 3·10² + 0·10¹ + 2·10⁰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number:</a:t>
            </a:r>
            <a:endParaRPr lang="en-US" sz="1600" dirty="0"/>
          </a:p>
          <a:p>
            <a:pPr marL="457200" lvl="1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10011 = 1·2⁴ + 0·2³ + 0·2² + 1·2¹ + 1·2⁰  (= 16 + 2 + 1 = 19)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Internally, the computer represents numbers in binary.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2 — Numbers &amp; Functions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Converting an integer to binary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108173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x = 1·2⁴ + 0·2³ + 0·2² + 1·2¹ + 1·2⁰ = 10011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Remainder relative to 2 (x % 2) gives the last binary bit.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Dividing x by 2 (x // 2) shifts all bits right:  x//2 = 1001.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doing successive divisions; each remainder gives the next bit, and so on.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2 — Numbers &amp; Functions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Integer → binary string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(or trace) the Python program described by the title above.</a:t>
            </a:r>
            <a:endParaRPr lang="en-US" sz="16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worked solution is on the next slide — try it yourself first.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2 — Numbers &amp; Functions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Integer → binary string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= int(input('Enter a whole number: '))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num &lt; 0: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isNeg = True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 = abs(num)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isNeg = False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''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num == 0: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'0'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num &gt; 0: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str(num%2) + result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 = num//2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isNeg: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'-' + result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2 — Numbers &amp; Functions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about fractions?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108173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3/8 = 0.375 = 3·10⁻¹ + 7·10⁻² + 5·10⁻³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a power of 2 big enough to get a whole number, convert to binary, then divide by the same power of 2.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0.375 · (2³) = 3 (decimal).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3 to binary → 11.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2³ (shift right) → 0.011 (binary).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2 — Numbers &amp; Functions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Decimal fraction → binary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(or trace) the Python program described by the title above.</a:t>
            </a:r>
            <a:endParaRPr lang="en-US" sz="16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worked solution is on the next slide — try it yourself first.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2 — Numbers &amp; Functions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Decimal fraction → binary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float(input('Enter a decimal number between 0 and 1: '))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0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((2**p)*x)%1 != 0: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print('Remainder = ' + str((2**p)*x - int((2**p)*x)))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+= 1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= int(x*(2**p))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''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num == 0: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'0'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num &gt; 0: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str(num%2) + result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 = num//2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range(p - len(result)):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'0' + result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result[0:-p] + '.' + result[-p:]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print('The binary representation of the decimal ' + str(x) + ' is ' + result)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2 — Numbers &amp; Functions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Newton-Raphson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108173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approximation algorithm to find roots of a polynomial in one variable.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p(x) = aₙxⁿ + aₙ₋₁xⁿ⁻¹ + … + a₁x + a₀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to find r such that p(r) = 0.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example, to find the square root of 24, find the root of p(x) = x² − 24.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showed that if g is an approximation to the root, then g − p(g)/p′(g) is a better one (p′ is the derivative of p).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2 — Numbers &amp; Functions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Newton-Raphson — simple case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108173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case: cx² + k.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derivative: 2cx.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if the polynomial is x² + k, then the derivative is 2x.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guess g for the root, a better guess is:  g − (g² − k) / 2g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us another way of generating guesses, which we can check — very efficient.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2 — Numbers &amp; Functions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Newton-Raphson — square root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(or trace) the Python program described by the title above.</a:t>
            </a:r>
            <a:endParaRPr lang="en-US" sz="16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worked solution is on the next slide — try it yourself first.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2 — Numbers &amp; Functions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Newton-Raphson — square root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epsilon = 0.01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24.0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guess = y/2.0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numGuesses = 0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abs(guess*guess - y) &gt;= epsilon: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numGuesses += 1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guess = guess - (((guess**2) - y)/(2*guess))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print('numGuesses = ' + str(numGuesses))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print('Square root of ' + str(y) + ' is about ' + str(guess))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452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6693" y="2702052"/>
            <a:ext cx="1424135" cy="1453896"/>
          </a:xfrm>
          <a:prstGeom prst="roundRect">
            <a:avLst>
              <a:gd name="adj" fmla="val 6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61" y="2903220"/>
            <a:ext cx="1021799" cy="1051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743200" y="25603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kern="0" spc="300" dirty="0">
                <a:solidFill>
                  <a:srgbClr val="9FC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TOPIC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2743200" y="292608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761488" y="3931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Reusable, named chunks of code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2 — Numbers &amp; Functions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108173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reusable pieces / chunks of code, called functions.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are not run in a program until they are 'called' or 'invoked'.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characteristics:</a:t>
            </a:r>
            <a:endParaRPr lang="en-US" sz="1600" dirty="0"/>
          </a:p>
          <a:p>
            <a:pPr marL="457200" lvl="1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name</a:t>
            </a:r>
            <a:endParaRPr lang="en-US" sz="1600" dirty="0"/>
          </a:p>
          <a:p>
            <a:pPr marL="457200" lvl="1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parameters (0 or more)</a:t>
            </a:r>
            <a:endParaRPr lang="en-US" sz="1600" dirty="0"/>
          </a:p>
          <a:p>
            <a:pPr marL="457200" lvl="1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docstring (optional but recommended)</a:t>
            </a:r>
            <a:endParaRPr lang="en-US" sz="1600" dirty="0"/>
          </a:p>
          <a:p>
            <a:pPr marL="457200" lvl="1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body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2 — Numbers &amp; Functions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and calling a function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(or trace) the Python program described by the title above.</a:t>
            </a:r>
            <a:endParaRPr lang="en-US" sz="16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worked solution is on the next slide — try it yourself first.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2 — Numbers &amp; Functions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and calling a function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is_even( i ):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Input: i, a positive int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Returns True if i is even, otherwise False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print("hi")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i%2 == 0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is_even(3)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8990D-2DFF-8E37-46A6-AC3F36095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08240B8-FC9E-6CDF-4347-606AAC7FB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8EAA423-A611-7E54-B652-2C9F20891CED}"/>
              </a:ext>
            </a:extLst>
          </p:cNvPr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CE0375B-37E5-170D-E543-4AB4FCBDAC9F}"/>
              </a:ext>
            </a:extLst>
          </p:cNvPr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2 — Numbers &amp; Functions</a:t>
            </a:r>
            <a:endParaRPr lang="en-US" sz="9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2BE618F-91C1-82A5-AEE9-9E6E9681D99F}"/>
              </a:ext>
            </a:extLst>
          </p:cNvPr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A9D53FF-5161-0066-E77D-CDD13B6E5FB0}"/>
              </a:ext>
            </a:extLst>
          </p:cNvPr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arguments</a:t>
            </a:r>
            <a:endParaRPr lang="en-US" sz="23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60E9312C-A70E-A83F-03B5-B2A863C368C2}"/>
              </a:ext>
            </a:extLst>
          </p:cNvPr>
          <p:cNvSpPr/>
          <p:nvPr/>
        </p:nvSpPr>
        <p:spPr>
          <a:xfrm>
            <a:off x="1568548" y="1673352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FFFCD34-64CF-6D56-C7CB-F420BCEEB318}"/>
              </a:ext>
            </a:extLst>
          </p:cNvPr>
          <p:cNvSpPr txBox="1"/>
          <p:nvPr/>
        </p:nvSpPr>
        <p:spPr>
          <a:xfrm>
            <a:off x="1679886" y="1773936"/>
            <a:ext cx="5189806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solidFill>
                  <a:schemeClr val="bg1"/>
                </a:solidFill>
              </a:rPr>
              <a:t>def </a:t>
            </a:r>
            <a:r>
              <a:rPr lang="en-US" sz="2400" dirty="0" err="1">
                <a:solidFill>
                  <a:schemeClr val="bg1"/>
                </a:solidFill>
              </a:rPr>
              <a:t>func</a:t>
            </a: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name,last_name,reverse</a:t>
            </a:r>
            <a:r>
              <a:rPr lang="en-US" sz="2400" dirty="0">
                <a:solidFill>
                  <a:schemeClr val="bg1"/>
                </a:solidFill>
              </a:rPr>
              <a:t>):</a:t>
            </a:r>
          </a:p>
          <a:p>
            <a:r>
              <a:rPr lang="en-US" sz="2400" dirty="0">
                <a:solidFill>
                  <a:schemeClr val="bg1"/>
                </a:solidFill>
              </a:rPr>
              <a:t>	if reverse==True:</a:t>
            </a:r>
          </a:p>
          <a:p>
            <a:r>
              <a:rPr lang="en-US" sz="2400" dirty="0">
                <a:solidFill>
                  <a:schemeClr val="bg1"/>
                </a:solidFill>
              </a:rPr>
              <a:t>		return </a:t>
            </a:r>
            <a:r>
              <a:rPr lang="en-US" sz="2400" dirty="0" err="1">
                <a:solidFill>
                  <a:schemeClr val="bg1"/>
                </a:solidFill>
              </a:rPr>
              <a:t>last_name</a:t>
            </a:r>
            <a:r>
              <a:rPr lang="en-US" sz="2400" dirty="0">
                <a:solidFill>
                  <a:schemeClr val="bg1"/>
                </a:solidFill>
              </a:rPr>
              <a:t>, name</a:t>
            </a:r>
          </a:p>
          <a:p>
            <a:r>
              <a:rPr lang="en-US" sz="2400" dirty="0">
                <a:solidFill>
                  <a:schemeClr val="bg1"/>
                </a:solidFill>
              </a:rPr>
              <a:t>	else:</a:t>
            </a:r>
          </a:p>
          <a:p>
            <a:r>
              <a:rPr lang="en-US" sz="2400" dirty="0">
                <a:solidFill>
                  <a:schemeClr val="bg1"/>
                </a:solidFill>
              </a:rPr>
              <a:t>		return name, </a:t>
            </a:r>
            <a:r>
              <a:rPr lang="en-US" sz="2400" dirty="0" err="1">
                <a:solidFill>
                  <a:schemeClr val="bg1"/>
                </a:solidFill>
              </a:rPr>
              <a:t>last_name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print (</a:t>
            </a:r>
            <a:r>
              <a:rPr lang="en-US" sz="2400" dirty="0" err="1">
                <a:solidFill>
                  <a:schemeClr val="bg1"/>
                </a:solidFill>
              </a:rPr>
              <a:t>func</a:t>
            </a:r>
            <a:r>
              <a:rPr lang="en-US" sz="2400" dirty="0">
                <a:solidFill>
                  <a:schemeClr val="bg1"/>
                </a:solidFill>
              </a:rPr>
              <a:t>("Maksim", "</a:t>
            </a:r>
            <a:r>
              <a:rPr lang="en-US" sz="2400" dirty="0" err="1">
                <a:solidFill>
                  <a:schemeClr val="bg1"/>
                </a:solidFill>
              </a:rPr>
              <a:t>Iavich</a:t>
            </a:r>
            <a:r>
              <a:rPr lang="en-US" sz="2400" dirty="0">
                <a:solidFill>
                  <a:schemeClr val="bg1"/>
                </a:solidFill>
              </a:rPr>
              <a:t>",False))</a:t>
            </a: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4B3992FC-C97A-AB33-821B-86D4268E49F8}"/>
              </a:ext>
            </a:extLst>
          </p:cNvPr>
          <p:cNvSpPr txBox="1"/>
          <p:nvPr/>
        </p:nvSpPr>
        <p:spPr>
          <a:xfrm>
            <a:off x="6981030" y="1773936"/>
            <a:ext cx="5189806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solidFill>
                  <a:schemeClr val="bg1"/>
                </a:solidFill>
              </a:rPr>
              <a:t>def </a:t>
            </a:r>
            <a:r>
              <a:rPr lang="en-US" sz="2400" dirty="0" err="1">
                <a:solidFill>
                  <a:schemeClr val="bg1"/>
                </a:solidFill>
              </a:rPr>
              <a:t>func</a:t>
            </a: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name,last_name</a:t>
            </a:r>
            <a:r>
              <a:rPr lang="en-US" sz="2400" dirty="0">
                <a:solidFill>
                  <a:schemeClr val="bg1"/>
                </a:solidFill>
              </a:rPr>
              <a:t>):</a:t>
            </a:r>
          </a:p>
          <a:p>
            <a:r>
              <a:rPr lang="en-US" sz="2400" dirty="0">
                <a:solidFill>
                  <a:schemeClr val="bg1"/>
                </a:solidFill>
              </a:rPr>
              <a:t>	if reverse==True:</a:t>
            </a:r>
          </a:p>
          <a:p>
            <a:r>
              <a:rPr lang="en-US" sz="2400" dirty="0">
                <a:solidFill>
                  <a:schemeClr val="bg1"/>
                </a:solidFill>
              </a:rPr>
              <a:t>		return </a:t>
            </a:r>
            <a:r>
              <a:rPr lang="en-US" sz="2400" dirty="0" err="1">
                <a:solidFill>
                  <a:schemeClr val="bg1"/>
                </a:solidFill>
              </a:rPr>
              <a:t>last_name</a:t>
            </a:r>
            <a:r>
              <a:rPr lang="en-US" sz="2400" dirty="0">
                <a:solidFill>
                  <a:schemeClr val="bg1"/>
                </a:solidFill>
              </a:rPr>
              <a:t>, name</a:t>
            </a:r>
          </a:p>
          <a:p>
            <a:r>
              <a:rPr lang="en-US" sz="2400" dirty="0">
                <a:solidFill>
                  <a:schemeClr val="bg1"/>
                </a:solidFill>
              </a:rPr>
              <a:t>	else:</a:t>
            </a:r>
          </a:p>
          <a:p>
            <a:r>
              <a:rPr lang="en-US" sz="2400" dirty="0">
                <a:solidFill>
                  <a:schemeClr val="bg1"/>
                </a:solidFill>
              </a:rPr>
              <a:t>		return </a:t>
            </a:r>
            <a:r>
              <a:rPr lang="en-US" sz="2400" dirty="0" err="1">
                <a:solidFill>
                  <a:schemeClr val="bg1"/>
                </a:solidFill>
              </a:rPr>
              <a:t>last_name</a:t>
            </a:r>
            <a:r>
              <a:rPr lang="en-US" sz="2400" dirty="0">
                <a:solidFill>
                  <a:schemeClr val="bg1"/>
                </a:solidFill>
              </a:rPr>
              <a:t>, name</a:t>
            </a:r>
          </a:p>
          <a:p>
            <a:r>
              <a:rPr lang="en-US" sz="2400" dirty="0">
                <a:solidFill>
                  <a:schemeClr val="bg1"/>
                </a:solidFill>
              </a:rPr>
              <a:t>print (</a:t>
            </a:r>
            <a:r>
              <a:rPr lang="en-US" sz="2400" dirty="0" err="1">
                <a:solidFill>
                  <a:schemeClr val="bg1"/>
                </a:solidFill>
              </a:rPr>
              <a:t>func</a:t>
            </a:r>
            <a:r>
              <a:rPr lang="en-US" sz="2400" dirty="0">
                <a:solidFill>
                  <a:schemeClr val="bg1"/>
                </a:solidFill>
              </a:rPr>
              <a:t>("Maksim", "</a:t>
            </a:r>
            <a:r>
              <a:rPr lang="en-US" sz="2400" dirty="0" err="1">
                <a:solidFill>
                  <a:schemeClr val="bg1"/>
                </a:solidFill>
              </a:rPr>
              <a:t>Iavich</a:t>
            </a:r>
            <a:r>
              <a:rPr lang="en-US" sz="2400" dirty="0">
                <a:solidFill>
                  <a:schemeClr val="bg1"/>
                </a:solidFill>
              </a:rPr>
              <a:t>"))</a:t>
            </a:r>
          </a:p>
        </p:txBody>
      </p:sp>
    </p:spTree>
    <p:extLst>
      <p:ext uri="{BB962C8B-B14F-4D97-AF65-F5344CB8AC3E}">
        <p14:creationId xmlns:p14="http://schemas.microsoft.com/office/powerpoint/2010/main" val="461685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2 — Numbers &amp; Functions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987552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E9F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NEW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 a password with SHA-256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store passwords in plain text — store a one-way hash instead.</a:t>
            </a:r>
            <a:endParaRPr lang="en-US" sz="1600" dirty="0"/>
          </a:p>
          <a:p>
            <a:pPr marL="203200" indent="-203200" algn="l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hash_password(pw) that returns the SHA-256 hex digest of the password.</a:t>
            </a:r>
            <a:endParaRPr lang="en-US" sz="1600" dirty="0"/>
          </a:p>
          <a:p>
            <a:pPr marL="203200" indent="-203200" algn="l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that changing a single character (even a space) produces a completely different hash.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60350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/ focus:  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hashlib — cryptographic hashing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2 — Numbers &amp; Functions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— SHA-256 hashing function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100584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E9F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NEW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hashlib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hash_password(pw):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"""Return the SHA-256 hex digest of a password string."""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pw.encode('utf-8')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hashlib.sha256(data).hexdigest()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print(hash_password('correcthorse'))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print(hash_password('correcthorse '))   # one space -&gt; different hash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2 — Numbers &amp; Functions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987552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E9F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NEW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a QR code for a link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qrcode library to encode a URL into a QR image (e.g. a link to a security report).</a:t>
            </a:r>
            <a:endParaRPr lang="en-US" sz="1600" dirty="0"/>
          </a:p>
          <a:p>
            <a:pPr marL="203200" indent="-203200" algn="l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it as a PNG that can be printed or shared.</a:t>
            </a:r>
            <a:endParaRPr lang="en-US" sz="1600" dirty="0"/>
          </a:p>
          <a:p>
            <a:pPr marL="203200" indent="-203200" algn="l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first:  pip install qrcode[pil]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60350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/ focus:  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qrcode — turning data into scannable images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2 — Numbers &amp; Functions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— writing a QR code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100584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E9F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NEW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pip install qrcode[pil]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qrcode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= 'https://cu.edu.ge'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= qrcode.make(url)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img.save('link.png')</a:t>
            </a:r>
            <a:endParaRPr lang="en-US" sz="15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print('QR code saved to link.png -&gt;', url)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452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6693" y="2702052"/>
            <a:ext cx="1424135" cy="1453896"/>
          </a:xfrm>
          <a:prstGeom prst="roundRect">
            <a:avLst>
              <a:gd name="adj" fmla="val 6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61" y="2903220"/>
            <a:ext cx="1021799" cy="1051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743200" y="25603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kern="0" spc="300" dirty="0">
                <a:solidFill>
                  <a:srgbClr val="9FC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MEETING 2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2743200" y="292608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761488" y="3931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in binary, roots by Newton-Raphson, and reusable functions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2008</Words>
  <Application>Microsoft Office PowerPoint</Application>
  <PresentationFormat>Widescreen</PresentationFormat>
  <Paragraphs>277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Caucasus University — School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Prof. Maksim Iavich</dc:creator>
  <cp:lastModifiedBy>hulkmax hulkmax</cp:lastModifiedBy>
  <cp:revision>4</cp:revision>
  <dcterms:created xsi:type="dcterms:W3CDTF">2026-09-04T16:20:29Z</dcterms:created>
  <dcterms:modified xsi:type="dcterms:W3CDTF">2026-09-14T11:17:41Z</dcterms:modified>
</cp:coreProperties>
</file>