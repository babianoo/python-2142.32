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4704" y="690372"/>
            <a:ext cx="1779543" cy="1819656"/>
          </a:xfrm>
          <a:prstGeom prst="roundRect">
            <a:avLst>
              <a:gd name="adj" fmla="val 5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872" y="891540"/>
            <a:ext cx="1377207" cy="1417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14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 · SCHOOL OF TECHNOLOGY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803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Programming II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794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3 · Scope &amp; Recursion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scope · strings · recursion · induction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miavich@cu.edu.ge   ·   Scientific Cyber Security 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Recursion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call themselves to solve smaller problems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functions &amp; scope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can be defined inside another function.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function sees the parameters/variables of the outer one.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what each call prints — the value depends on which scope a name is looked up 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 — default arguments (part 1)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nested function foo is called two different ways.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by hand what each print statement outputs before running it.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default parameters &amp; nested functions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examples — foo / bar (1)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62956" cy="4663440"/>
          </a:xfrm>
          <a:prstGeom prst="roundRect">
            <a:avLst>
              <a:gd name="adj" fmla="val 156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49971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foo(x, y = 5):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bar(x):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bar(y *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print(foo(3))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77356" y="1600200"/>
            <a:ext cx="5362956" cy="4663440"/>
          </a:xfrm>
          <a:prstGeom prst="roundRect">
            <a:avLst>
              <a:gd name="adj" fmla="val 156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0236" y="1737360"/>
            <a:ext cx="49971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foo(x, y = 5):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bar(x):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 + 1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bar(y *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print(foo(3, 0))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29107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defaults to 5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77356" y="629107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passed as 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output — shadowing (part 2)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inner bar has its own parameter x, which shadows the outer x.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two versions differ in whether x is passed to bar — trace both.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variable shadowing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examples — foo / bar (2)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62956" cy="4663440"/>
          </a:xfrm>
          <a:prstGeom prst="roundRect">
            <a:avLst>
              <a:gd name="adj" fmla="val 156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49971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foo(x):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bar(z, x = 0):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z +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bar(3, 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print(foo(2))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77356" y="1600200"/>
            <a:ext cx="5362956" cy="4663440"/>
          </a:xfrm>
          <a:prstGeom prst="roundRect">
            <a:avLst>
              <a:gd name="adj" fmla="val 156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0236" y="1737360"/>
            <a:ext cx="49971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foo(x):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bar(z, x = 0):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z + 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bar(3)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print(foo(5))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29107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bar(3, x) — passes x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77356" y="629107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bar(3) — x defaults to 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— useful methods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— useful methods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string operations you will reuse throughout the course.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11091672" cy="4343400"/>
          </a:xfrm>
          <a:prstGeom prst="roundRect">
            <a:avLst>
              <a:gd name="adj" fmla="val 1684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48256"/>
            <a:ext cx="10634472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str1.upper()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str1.isupper()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str1.islower()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str2 = str2.capitalize()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str2.swapcase()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str1.index('e')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str2.index('n')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str2.find('n')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str1.count('e')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str1 = str1.replace('e', '*')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Multiplication — recursive solution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step: reduce the problem to a simpler/smaller version of the same problem.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a*b = a + a + a + … + a   (b times)  =  a + a*(b-1)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keep reducing until you reach a simple case that can be solved directly.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 = 1, a*b = 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multiplication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multiplication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mult(a, b):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== 1:            # base case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 + mult(a, b-1)   # recursive step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multiplication (for comparison)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multiplication (for comparison)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mult_iter(a, b):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b &gt; 0: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+= a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 -=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Factorial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n! = n·(n-1)·(n-2)·(n-3)·…·1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 do we know the factorial of?  n = 1  →  base case: if n == 1: return 1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reduce the problem? Rewrite in terms of something simpler to reach the base case.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n·(n-1)!  →  recursive step: else: return n*factorial(n-1)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factorial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factorial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fact(n):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1: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n*fact(n-1)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print(fact(4))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 vs. recursion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trace) the Python program described by the title above.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worked solution is on the next slide — try it yourself first.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 vs. recursion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62956" cy="4663440"/>
          </a:xfrm>
          <a:prstGeom prst="roundRect">
            <a:avLst>
              <a:gd name="adj" fmla="val 156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49971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factorial_iter(n):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 =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n+1):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 *= 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77356" y="1600200"/>
            <a:ext cx="5362956" cy="4663440"/>
          </a:xfrm>
          <a:prstGeom prst="roundRect">
            <a:avLst>
              <a:gd name="adj" fmla="val 156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0236" y="1737360"/>
            <a:ext cx="499719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1: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n*factorial(n-1)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29107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77356" y="6291072"/>
            <a:ext cx="53629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iterPower and recurPower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iterative function iterPower(base, exp) that computes base**exp using successive multiplication.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iterPower(base, exp) should compute base**exp by multiplying base times itself exp times.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a function recurPower(base, exp) which computes base**exp by recursively calling itself on a smaller version of the same problem, and then multiplying the result by base.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— iteration vs. recursion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recurPower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recurPower(base, exp):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base: int or float.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exp: int &gt;= 0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returns: int or float, base^exp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exp == 0: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 recurPower(base, (exp-1))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print(recurPower(5, 3))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induction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08173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a statement indexed on integers is true for all values of n: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is true when n is the smallest value (e.g. n = 0 or n = 1).</a:t>
            </a:r>
            <a:endParaRPr lang="en-US" sz="1600" dirty="0"/>
          </a:p>
          <a:p>
            <a:pPr algn="l"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prove that if it is true for an arbitrary value of n, it must be true for n+1.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Recursively reverse a string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recursive function reverse(s) that returns the string reversed.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check whether a password reads the same backwards (a palindrome) — such passwords are weak and predictable.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+ strings — palindrome / weak-password check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recursive reverse &amp; palindrome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reverse(s):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len(s) &lt;= 1:        # base case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reverse(s[1:]) + s[0]   # move first char to the end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is_weak_palindrome(pw):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pw == reverse(pw)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print(reverse('P@ssw0rd'))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print(is_weak_palindrome('level'))      # True  -&gt; weak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print(is_weak_palindrome('Str0ng!'))    # False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2D7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98755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hash chain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1091672" cy="3566160"/>
          </a:xfrm>
          <a:prstGeom prst="roundRect">
            <a:avLst>
              <a:gd name="adj" fmla="val 2564"/>
            </a:avLst>
          </a:prstGeom>
          <a:solidFill>
            <a:srgbClr val="F1F7FB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104515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chain applies a hash function repeatedly: h, h(h), h(h(h))…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recursive function hash_chain(text, n) that hashes text n times with SHA-256.</a:t>
            </a:r>
            <a:endParaRPr lang="en-US" sz="16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chains are used in one-time-password schemes and password storage hardening.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focus: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+ hashlib — key stretching idea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623371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62867" y="246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CAUCASUS UNIVERSITY</a:t>
            </a:r>
            <a:pPr algn="l"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Maksim Iavich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Python Programming II   ·   Meeting 3 — Recursion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183112" y="6473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52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— recursive hash chain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1005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E9F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72768"/>
            <a:ext cx="11091672" cy="4690872"/>
          </a:xfrm>
          <a:prstGeom prst="roundRect">
            <a:avLst>
              <a:gd name="adj" fmla="val 1559"/>
            </a:avLst>
          </a:prstGeom>
          <a:solidFill>
            <a:srgbClr val="0F1D2B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00784"/>
            <a:ext cx="1063447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sha(text):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hashlib.sha256(text.encode('utf-8')).hexdigest()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hash_chain(text, n):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0:            # base case: no more hashing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text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hash_chain(sha(text), n - 1)   # hash once, recurse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print(hash_chain('secret', 1))</a:t>
            </a:r>
            <a:endParaRPr lang="en-US" sz="1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print(hash_chain('secret', 3))   # hashed three times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45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693" y="2702052"/>
            <a:ext cx="1424135" cy="1453896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61" y="2903220"/>
            <a:ext cx="1021799" cy="1051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F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MEETING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2926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761488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+ recursive step — the shape of every recursive tool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Caucasus University — School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Prof. Maksim Iavich</dc:creator>
  <cp:lastModifiedBy>Prof. Maksim Iavich</cp:lastModifiedBy>
  <cp:revision>1</cp:revision>
  <dcterms:created xsi:type="dcterms:W3CDTF">2026-09-04T16:20:29Z</dcterms:created>
  <dcterms:modified xsi:type="dcterms:W3CDTF">2026-09-04T16:20:29Z</dcterms:modified>
</cp:coreProperties>
</file>